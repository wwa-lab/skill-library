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发布内容</c:v>
                </c:pt>
              </c:strCache>
            </c:strRef>
          </c:tx>
          <c:spPr>
            <a:solidFill>
              <a:srgbClr val="1717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复用记录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13</c:v>
                </c:pt>
                <c:pt idx="2">
                  <c:v>21</c:v>
                </c:pt>
                <c:pt idx="3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AAAAA"/>
            </a:solidFill>
            <a:prstDash val="solid"/>
            <a:round/>
          </a:ln>
        </c:spPr>
        <c:txPr>
          <a:bodyPr/>
          <a:lstStyle/>
          <a:p>
            <a:pPr>
              <a:defRPr sz="1440" b="0" i="0" u="none" strike="noStrike">
                <a:solidFill>
                  <a:srgbClr val="171717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AAAAAA"/>
            </a:solidFill>
            <a:prstDash val="solid"/>
            <a:round/>
          </a:ln>
        </c:spPr>
        <c:txPr>
          <a:bodyPr/>
          <a:lstStyle/>
          <a:p>
            <a:pPr>
              <a:defRPr sz="1440" b="0" i="0" u="none" strike="noStrike">
                <a:solidFill>
                  <a:srgbClr val="171717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40">
              <a:solidFill>
                <a:srgbClr val="171717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图片仅作为版式和裁切验证素材，不代表真实公司办公室。素材源：Unsplash，https://images.unsplash.com/photo-1497366811353-6870744d04b2 。许可：https://unsplash.com/license 。现场可替换为已获授权的公司图片。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开场提问：上一次解决问题后，哪些经验留在了个人脑中？本次介绍如何把经验整理成团队可以复用的内容。此演示为六页功能验证样例，所有数字均为演示数据。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C 更新讲稿：富文本、画布位置和页面顺序已保存。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流程图由原生色块、文字和箭头组成。讲解顺序：记录背景、提炼方法、共同评审、再次应用。网页进入动画在 PPTX 中转换为全对象可见的静态终态；需要分步讲解时可复制页面形成关键步骤页。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表格保留原生可编辑单元格。请重点比较“现场分享”和“异步阅读”对内容密度的不同要求。本页为通用建议，不是公司的强制流程。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图表数据为虚构的验证样例，不代表公司实际业务。第一到第四季度的内容发布数分别为 12、18、24、28，复用记录数分别为 5、13、21、32。导出 PPTX 后可打开“编辑数据”修改内嵌工作簿。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6385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CORPORATE / 内部分享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92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r>
              <a:rPr lang="en-US" sz="492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</a:t>
            </a:r>
            <a:endParaRPr lang="en-US" sz="492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6385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CORPORATE / 内部分享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8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r>
              <a:rPr lang="en-US" sz="348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</a:t>
            </a:r>
            <a:endParaRPr lang="en-US" sz="348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_DA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6385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CORPORATE / 内部分享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8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r>
              <a:rPr lang="en-US" sz="348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</a:t>
            </a:r>
            <a:endParaRPr lang="en-US" sz="348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ORATE_IMPORT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交流空间，让经验更容易被看见</a:t>
            </a:r>
            <a:endParaRPr lang="en-US" sz="3480" dirty="0"/>
          </a:p>
        </p:txBody>
      </p:sp>
      <p:pic>
        <p:nvPicPr>
          <p:cNvPr id="3" name="office-image" descr="共享办公交流空间，演示素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0" y="2095500"/>
            <a:ext cx="6553200" cy="3810000"/>
          </a:xfrm>
          <a:prstGeom prst="rect">
            <a:avLst/>
          </a:prstGeom>
        </p:spPr>
      </p:pic>
      <p:sp>
        <p:nvSpPr>
          <p:cNvPr id="4" name="image-quote"/>
          <p:cNvSpPr/>
          <p:nvPr/>
        </p:nvSpPr>
        <p:spPr>
          <a:xfrm>
            <a:off x="762000" y="2286000"/>
            <a:ext cx="36957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336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分享从一个</a:t>
            </a:r>
            <a:endParaRPr lang="zh-CN" sz="336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336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具体场景开始</a:t>
            </a:r>
            <a:endParaRPr lang="zh-CN" sz="3360" dirty="0"/>
          </a:p>
        </p:txBody>
      </p:sp>
      <p:sp>
        <p:nvSpPr>
          <p:cNvPr id="5" name="image-body"/>
          <p:cNvSpPr/>
          <p:nvPr/>
        </p:nvSpPr>
        <p:spPr>
          <a:xfrm>
            <a:off x="762000" y="4191000"/>
            <a:ext cx="36957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让听众看见问题发生的环境，</a:t>
            </a:r>
            <a:endParaRPr lang="zh-CN" sz="19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再解释你采取的行动。</a:t>
            </a:r>
            <a:endParaRPr lang="zh-CN" sz="1920" dirty="0"/>
          </a:p>
        </p:txBody>
      </p:sp>
      <p:sp>
        <p:nvSpPr>
          <p:cNvPr id="6" name="image-credit"/>
          <p:cNvSpPr/>
          <p:nvPr/>
        </p:nvSpPr>
        <p:spPr>
          <a:xfrm>
            <a:off x="762000" y="5646420"/>
            <a:ext cx="3733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3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图片：Unsplash / 示例素材</a:t>
            </a:r>
            <a:endParaRPr lang="zh-CN" sz="1320" dirty="0"/>
          </a:p>
        </p:txBody>
      </p:sp>
      <p:sp>
        <p:nvSpPr>
          <p:cNvPr id="8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2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让知识成为团队的共同能力</a:t>
            </a:r>
            <a:endParaRPr lang="en-US" sz="4920" dirty="0"/>
          </a:p>
        </p:txBody>
      </p:sp>
      <p:sp>
        <p:nvSpPr>
          <p:cNvPr id="3" name="cover-kicker"/>
          <p:cNvSpPr/>
          <p:nvPr/>
        </p:nvSpPr>
        <p:spPr>
          <a:xfrm>
            <a:off x="800100" y="22860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264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团队知识分享</a:t>
            </a:r>
            <a:endParaRPr lang="zh-CN" sz="2640" dirty="0"/>
          </a:p>
        </p:txBody>
      </p:sp>
      <p:sp>
        <p:nvSpPr>
          <p:cNvPr id="4" name="cover-sub"/>
          <p:cNvSpPr/>
          <p:nvPr/>
        </p:nvSpPr>
        <p:spPr>
          <a:xfrm>
            <a:off x="762000" y="3223260"/>
            <a:ext cx="990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32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把一次解决问题的经验，</a:t>
            </a:r>
            <a:endParaRPr lang="zh-CN" sz="324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32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变成下一位同事的起点。</a:t>
            </a:r>
            <a:endParaRPr lang="zh-CN" sz="3240" dirty="0"/>
          </a:p>
        </p:txBody>
      </p:sp>
      <p:sp>
        <p:nvSpPr>
          <p:cNvPr id="5" name="cover-meta"/>
          <p:cNvSpPr/>
          <p:nvPr/>
        </p:nvSpPr>
        <p:spPr>
          <a:xfrm>
            <a:off x="800100" y="547116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内部分享 · 20 分钟</a:t>
            </a:r>
            <a:endParaRPr lang="zh-CN" sz="1680" dirty="0"/>
          </a:p>
        </p:txBody>
      </p:sp>
      <p:sp>
        <p:nvSpPr>
          <p:cNvPr id="7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一次分享，回答一个具体问题</a:t>
            </a:r>
            <a:endParaRPr lang="en-US" sz="3480" dirty="0"/>
          </a:p>
        </p:txBody>
      </p:sp>
      <p:sp>
        <p:nvSpPr>
          <p:cNvPr id="3" name="text-number"/>
          <p:cNvSpPr/>
          <p:nvPr/>
        </p:nvSpPr>
        <p:spPr>
          <a:xfrm>
            <a:off x="762000" y="2156460"/>
            <a:ext cx="13716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4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4800" dirty="0"/>
          </a:p>
        </p:txBody>
      </p:sp>
      <p:sp>
        <p:nvSpPr>
          <p:cNvPr id="4" name="text-heading"/>
          <p:cNvSpPr/>
          <p:nvPr/>
        </p:nvSpPr>
        <p:spPr>
          <a:xfrm>
            <a:off x="2514600" y="21717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312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从真实问题出发</a:t>
            </a:r>
            <a:endParaRPr lang="zh-CN" sz="3120" dirty="0"/>
          </a:p>
        </p:txBody>
      </p:sp>
      <p:sp>
        <p:nvSpPr>
          <p:cNvPr id="5" name="text-body"/>
          <p:cNvSpPr/>
          <p:nvPr/>
        </p:nvSpPr>
        <p:spPr>
          <a:xfrm>
            <a:off x="2743200" y="3319615"/>
            <a:ext cx="8644197" cy="2214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213360" indent="-213360">
              <a:lnSpc>
                <a:spcPct val="128000"/>
              </a:lnSpc>
              <a:buSzPct val="100000"/>
              <a:buChar char="•"/>
            </a:pPr>
            <a:r>
              <a:rPr lang="zh-CN" altLang="en-US" sz="2160" b="1" u="sng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说明使用场景和已有约束</a:t>
            </a:r>
            <a:pPr algn="ctr" marL="213360" indent="-213360">
              <a:lnSpc>
                <a:spcPct val="128000"/>
              </a:lnSpc>
              <a:buSzPct val="100000"/>
              <a:buChar char="•"/>
            </a:pPr>
            <a:r>
              <a:rPr lang="zh-CN" altLang="en-US" sz="2520" i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可复用方法</a:t>
            </a:r>
            <a:endParaRPr lang="zh-CN" sz="2520" dirty="0"/>
          </a:p>
          <a:p>
            <a:pPr algn="l" lvl="1" marL="685800" indent="-342900">
              <a:lnSpc>
                <a:spcPct val="128000"/>
              </a:lnSpc>
              <a:buSzPct val="100000"/>
              <a:buFont typeface="+mj-lt"/>
              <a:buAutoNum type="arabicPeriod" startAt="1"/>
            </a:pPr>
            <a:r>
              <a:rPr lang="zh-CN" altLang="en-US" sz="2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编号步骤：形成可复用说明。</a:t>
            </a:r>
            <a:endParaRPr lang="zh-CN" sz="25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2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解释你做出的关键判断</a:t>
            </a:r>
            <a:endParaRPr lang="zh-CN" sz="25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2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留下下一次可以复用的方法</a:t>
            </a:r>
            <a:endParaRPr lang="zh-CN" sz="2520" dirty="0"/>
          </a:p>
        </p:txBody>
      </p:sp>
      <p:sp>
        <p:nvSpPr>
          <p:cNvPr id="6" name="text-foot"/>
          <p:cNvSpPr/>
          <p:nvPr/>
        </p:nvSpPr>
        <p:spPr>
          <a:xfrm>
            <a:off x="2683802" y="5585460"/>
            <a:ext cx="876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少放结论清单，多保留做出判断的依据。</a:t>
            </a:r>
            <a:endParaRPr lang="zh-CN" sz="1680" dirty="0"/>
          </a:p>
        </p:txBody>
      </p:sp>
      <p:sp>
        <p:nvSpPr>
          <p:cNvPr id="8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团队经验的复用流程</a:t>
            </a:r>
            <a:endParaRPr lang="en-US" sz="3480" dirty="0"/>
          </a:p>
        </p:txBody>
      </p:sp>
      <p:sp>
        <p:nvSpPr>
          <p:cNvPr id="3" name="step1"/>
          <p:cNvSpPr/>
          <p:nvPr/>
        </p:nvSpPr>
        <p:spPr>
          <a:xfrm>
            <a:off x="762000" y="2712720"/>
            <a:ext cx="2133600" cy="1219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712720"/>
            <a:ext cx="2133600" cy="1219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记录背景</a:t>
            </a:r>
            <a:endParaRPr lang="zh-CN" sz="1920" dirty="0"/>
          </a:p>
        </p:txBody>
      </p:sp>
      <p:sp>
        <p:nvSpPr>
          <p:cNvPr id="5" name="arrow1"/>
          <p:cNvSpPr/>
          <p:nvPr/>
        </p:nvSpPr>
        <p:spPr>
          <a:xfrm>
            <a:off x="3101340" y="3078480"/>
            <a:ext cx="495300" cy="487680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tep2"/>
          <p:cNvSpPr/>
          <p:nvPr/>
        </p:nvSpPr>
        <p:spPr>
          <a:xfrm>
            <a:off x="3810000" y="2712720"/>
            <a:ext cx="2133600" cy="12192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0" y="2712720"/>
            <a:ext cx="2133600" cy="1219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提炼方法</a:t>
            </a:r>
            <a:endParaRPr lang="zh-CN" sz="1920" dirty="0"/>
          </a:p>
        </p:txBody>
      </p:sp>
      <p:sp>
        <p:nvSpPr>
          <p:cNvPr id="8" name="arrow2"/>
          <p:cNvSpPr/>
          <p:nvPr/>
        </p:nvSpPr>
        <p:spPr>
          <a:xfrm>
            <a:off x="6149340" y="3078480"/>
            <a:ext cx="495300" cy="487680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step3"/>
          <p:cNvSpPr/>
          <p:nvPr/>
        </p:nvSpPr>
        <p:spPr>
          <a:xfrm>
            <a:off x="6858000" y="2712720"/>
            <a:ext cx="2133600" cy="12192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712720"/>
            <a:ext cx="2133600" cy="1219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共同评审</a:t>
            </a:r>
            <a:endParaRPr lang="zh-CN" sz="1920" dirty="0"/>
          </a:p>
        </p:txBody>
      </p:sp>
      <p:sp>
        <p:nvSpPr>
          <p:cNvPr id="11" name="arrow3"/>
          <p:cNvSpPr/>
          <p:nvPr/>
        </p:nvSpPr>
        <p:spPr>
          <a:xfrm>
            <a:off x="9197340" y="3078480"/>
            <a:ext cx="495300" cy="487680"/>
          </a:xfrm>
          <a:prstGeom prst="rightArrow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tep4"/>
          <p:cNvSpPr/>
          <p:nvPr/>
        </p:nvSpPr>
        <p:spPr>
          <a:xfrm>
            <a:off x="9906000" y="2712720"/>
            <a:ext cx="1524000" cy="12192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0" y="2712720"/>
            <a:ext cx="1524000" cy="1219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再次应用</a:t>
            </a:r>
            <a:endParaRPr lang="zh-CN" sz="1920" dirty="0"/>
          </a:p>
        </p:txBody>
      </p:sp>
      <p:sp>
        <p:nvSpPr>
          <p:cNvPr id="14" name="flow-detail"/>
          <p:cNvSpPr/>
          <p:nvPr/>
        </p:nvSpPr>
        <p:spPr>
          <a:xfrm>
            <a:off x="762000" y="431292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记录约束</a:t>
            </a:r>
            <a:endParaRPr lang="zh-CN" sz="1800" dirty="0"/>
          </a:p>
        </p:txBody>
      </p:sp>
      <p:sp>
        <p:nvSpPr>
          <p:cNvPr id="15" name="flow-detail2"/>
          <p:cNvSpPr/>
          <p:nvPr/>
        </p:nvSpPr>
        <p:spPr>
          <a:xfrm>
            <a:off x="3810000" y="4312920"/>
            <a:ext cx="2514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提取可重复步骤</a:t>
            </a:r>
            <a:endParaRPr lang="zh-CN" sz="1800" dirty="0"/>
          </a:p>
        </p:txBody>
      </p:sp>
      <p:sp>
        <p:nvSpPr>
          <p:cNvPr id="16" name="flow-detail3"/>
          <p:cNvSpPr/>
          <p:nvPr/>
        </p:nvSpPr>
        <p:spPr>
          <a:xfrm>
            <a:off x="6858000" y="431292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发现适用边界</a:t>
            </a:r>
            <a:endParaRPr lang="zh-CN" sz="1800" dirty="0"/>
          </a:p>
        </p:txBody>
      </p:sp>
      <p:sp>
        <p:nvSpPr>
          <p:cNvPr id="17" name="flow-detail4"/>
          <p:cNvSpPr/>
          <p:nvPr/>
        </p:nvSpPr>
        <p:spPr>
          <a:xfrm>
            <a:off x="9906000" y="43129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反馈与更新</a:t>
            </a:r>
            <a:endParaRPr lang="zh-CN" sz="1800" dirty="0"/>
          </a:p>
        </p:txBody>
      </p:sp>
      <p:sp>
        <p:nvSpPr>
          <p:cNvPr id="19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根据使用场景选择分享形式</a:t>
            </a:r>
            <a:endParaRPr lang="en-US" sz="3480" dirty="0"/>
          </a:p>
        </p:txBody>
      </p:sp>
      <p:graphicFrame>
        <p:nvGraphicFramePr>
          <p:cNvPr id="6" name="forma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171700"/>
          <a:ext cx="10668000" cy="2971800"/>
        </p:xfrm>
        <a:graphic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42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内容重点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推荐形式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内部分享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一个问题与关键判断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少量正文 + 完整讲稿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团队培训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步骤、练习与适用边界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流程图 + 示例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项目路演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现状、证据与行动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2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数据图表 + 结论</a:t>
                      </a:r>
                      <a:endParaRPr lang="en-US" sz="1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6680" marR="106680" marT="60960" marB="60960" anchor="mid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table-foot"/>
          <p:cNvSpPr/>
          <p:nvPr/>
        </p:nvSpPr>
        <p:spPr>
          <a:xfrm>
            <a:off x="762000" y="5600700"/>
            <a:ext cx="1066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先确定听众需要做出的判断，再决定页面内容。</a:t>
            </a:r>
            <a:endParaRPr lang="zh-CN" sz="1800" dirty="0"/>
          </a:p>
        </p:txBody>
      </p:sp>
      <p:sp>
        <p:nvSpPr>
          <p:cNvPr id="6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62000" y="70104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80" b="1" spc="-84" kern="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观察复用，而不只统计发布</a:t>
            </a:r>
            <a:endParaRPr lang="en-US" sz="348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62000" y="2209800"/>
          <a:ext cx="7315200" cy="35433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-number"/>
          <p:cNvSpPr/>
          <p:nvPr/>
        </p:nvSpPr>
        <p:spPr>
          <a:xfrm>
            <a:off x="8763000" y="2453640"/>
            <a:ext cx="2667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672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zh-CN" sz="6720" dirty="0"/>
          </a:p>
        </p:txBody>
      </p:sp>
      <p:sp>
        <p:nvSpPr>
          <p:cNvPr id="5" name="chart-callout"/>
          <p:cNvSpPr/>
          <p:nvPr/>
        </p:nvSpPr>
        <p:spPr>
          <a:xfrm>
            <a:off x="8763000" y="3657600"/>
            <a:ext cx="266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216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第四季度复用记录</a:t>
            </a:r>
            <a:endParaRPr lang="zh-CN" sz="2160" dirty="0"/>
          </a:p>
        </p:txBody>
      </p:sp>
      <p:sp>
        <p:nvSpPr>
          <p:cNvPr id="6" name="chart-caveat"/>
          <p:cNvSpPr/>
          <p:nvPr/>
        </p:nvSpPr>
        <p:spPr>
          <a:xfrm>
            <a:off x="8763000" y="514350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演示数据，非业务统计</a:t>
            </a:r>
            <a:endParaRPr lang="zh-CN" sz="1500" dirty="0"/>
          </a:p>
        </p:txBody>
      </p:sp>
      <p:sp>
        <p:nvSpPr>
          <p:cNvPr id="8" name="Text 2"/>
          <p:cNvSpPr/>
          <p:nvPr>
            <p:ph idx="103" type="body" hasCustomPrompt="1"/>
          </p:nvPr>
        </p:nvSpPr>
        <p:spPr>
          <a:xfrm>
            <a:off x="762000" y="1981200"/>
            <a:ext cx="1066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703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rporate">
      <a:dk1>
        <a:srgbClr val="171717"/>
      </a:dk1>
      <a:lt1>
        <a:srgbClr val="FFFFFF"/>
      </a:lt1>
      <a:dk2>
        <a:srgbClr val="444444"/>
      </a:dk2>
      <a:lt2>
        <a:srgbClr val="F4F4F4"/>
      </a:lt2>
      <a:accent1>
        <a:srgbClr val="C8102E"/>
      </a:accent1>
      <a:accent2>
        <a:srgbClr val="171717"/>
      </a:accent2>
      <a:accent3>
        <a:srgbClr val="999999"/>
      </a:accent3>
      <a:accent4>
        <a:srgbClr val="E8A2AF"/>
      </a:accent4>
      <a:accent5>
        <a:srgbClr val="666666"/>
      </a:accent5>
      <a:accent6>
        <a:srgbClr val="DDDDDD"/>
      </a:accent6>
      <a:hlink>
        <a:srgbClr val="C8102E"/>
      </a:hlink>
      <a:folHlink>
        <a:srgbClr val="8D0B20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CORPORATE / 内部分享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团队知识分享 · 六页样例</dc:title>
  <dc:subject>Native editable slides; web animations export as visible final state.</dc:subject>
  <dc:creator>Corporate Web Slides</dc:creator>
  <cp:lastModifiedBy>Corporate Web Slides</cp:lastModifiedBy>
  <cp:revision>1</cp:revision>
  <dcterms:created xsi:type="dcterms:W3CDTF">2026-09-18T00:21:14Z</dcterms:created>
  <dcterms:modified xsi:type="dcterms:W3CDTF">2026-09-18T00:21:14Z</dcterms:modified>
</cp:coreProperties>
</file>